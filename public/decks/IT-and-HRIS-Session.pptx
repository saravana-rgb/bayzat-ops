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the Day 1 IT and HRIS session — everything gets verified live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sections today. Each one ends with something verified, not just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each of these now. Anything that doesn't load becomes an IT ticket before the session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scoped, not withheld. The approval is what makes the access defensible at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opens all three now so we know they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pages, access permissions and the share option, then open the IT space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Create ticket live. Category first, then ticket type — that decides the fields and the approver.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logs into Drata now. Confirm invite, MFA and dashboard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n8n is the orchestrator; Claude and ChatGPT are the model layers. Always the company workspace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does the first draft; the human owns the result. Company accounts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who has their device and who doesn't. Run the health check live; discuss delivery for anyone still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365760" cy="45720"/>
          </a:xfrm>
          <a:prstGeom prst="roundRect">
            <a:avLst>
              <a:gd name="adj" fmla="val 50000"/>
            </a:avLst>
          </a:prstGeom>
          <a:solidFill>
            <a:srgbClr val="9647FF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· DAY 1 · LIVE FOLLOW-ALONG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and HRIS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4871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66928" y="35661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Access, Bayzat, ticketing, Drata, AI tools and your assets — all verified live, in this room, before anything else starts.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47091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09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ACCESS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91640" y="470916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47091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BAYZAT PLATFORM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83280" y="470916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47091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26280" y="47091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47091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DRATA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394960" y="47091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4709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473952" y="470916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47091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ASSETS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topics</a:t>
            </a:r>
            <a:pPr indent="0" marL="0">
              <a:buNone/>
            </a:pPr>
            <a:r>
              <a:rPr lang="en-US" sz="36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3503066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77824" y="189280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9647FF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7824" y="2532888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Access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2953512"/>
            <a:ext cx="2881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everyone gets by default, and what comes with your role.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4314" y="1600200"/>
            <a:ext cx="3503066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55210" y="189280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9647FF"/>
          </a:solidFill>
          <a:ln/>
        </p:spPr>
      </p:sp>
      <p:sp>
        <p:nvSpPr>
          <p:cNvPr id="10" name="Text 8"/>
          <p:cNvSpPr/>
          <p:nvPr/>
        </p:nvSpPr>
        <p:spPr>
          <a:xfrm>
            <a:off x="465521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55210" y="2532888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Bayzat Platform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55210" y="2953512"/>
            <a:ext cx="2881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profile, Knowledge Hub spaces, and Studio.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1701" y="1600200"/>
            <a:ext cx="3503066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32597" y="189280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9647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32597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32597" y="2532888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2597" y="2953512"/>
            <a:ext cx="2881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IT and HR tickets, and the SLAs behind them.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023360"/>
            <a:ext cx="3503066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7824" y="431596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9647FF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4956048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7824" y="5376672"/>
            <a:ext cx="2881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today. Our ISO 27001 evidence layer.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4314" y="4023360"/>
            <a:ext cx="3503066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55210" y="431596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9647FF"/>
          </a:solidFill>
          <a:ln/>
        </p:spPr>
      </p:sp>
      <p:sp>
        <p:nvSpPr>
          <p:cNvPr id="25" name="Text 23"/>
          <p:cNvSpPr/>
          <p:nvPr/>
        </p:nvSpPr>
        <p:spPr>
          <a:xfrm>
            <a:off x="4655210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55210" y="4956048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55210" y="5376672"/>
            <a:ext cx="2881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n8n, Claude, Anthropic and OpenAI models.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21701" y="4023360"/>
            <a:ext cx="3503066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32597" y="431596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9647FF"/>
          </a:solidFill>
          <a:ln/>
        </p:spPr>
      </p:sp>
      <p:sp>
        <p:nvSpPr>
          <p:cNvPr id="30" name="Text 28"/>
          <p:cNvSpPr/>
          <p:nvPr/>
        </p:nvSpPr>
        <p:spPr>
          <a:xfrm>
            <a:off x="8432597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32597" y="4956048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Assets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2597" y="5376672"/>
            <a:ext cx="2881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allocated device and its condition.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b="1" dirty="0">
                <a:solidFill>
                  <a:srgbClr val="C4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Access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for everyone, then role-based on top.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65760" cy="45720"/>
          </a:xfrm>
          <a:prstGeom prst="roundRect">
            <a:avLst>
              <a:gd name="adj" fmla="val 50000"/>
            </a:avLst>
          </a:prstGeom>
          <a:solidFill>
            <a:srgbClr val="9647FF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ACCESS · EVERYONE HAS THIS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gets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request needed. These are provisioned before your first 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188720"/>
            <a:ext cx="6504127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0" y="1463040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7780">
            <a:solidFill>
              <a:srgbClr val="CFCA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33872" y="1316736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82128" y="1316736"/>
            <a:ext cx="34683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Mail, Calendar and Drive all load under your Bayzat account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2157984"/>
            <a:ext cx="6504127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94960" y="2432304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7780">
            <a:solidFill>
              <a:srgbClr val="CFCA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3872" y="2286000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Bayzat Platform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82128" y="2286000"/>
            <a:ext cx="34683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open your own profile and see the payslips tab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3127248"/>
            <a:ext cx="6504127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94960" y="3401568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7780">
            <a:solidFill>
              <a:srgbClr val="CFCA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3255264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82128" y="3255264"/>
            <a:ext cx="34683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in the workspace and can see your team channels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4096512"/>
            <a:ext cx="6504127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4370832"/>
            <a:ext cx="292608" cy="292608"/>
          </a:xfrm>
          <a:prstGeom prst="roundRect">
            <a:avLst>
              <a:gd name="adj" fmla="val 28125"/>
            </a:avLst>
          </a:prstGeom>
          <a:solidFill>
            <a:srgbClr val="FFFFFF"/>
          </a:solidFill>
          <a:ln w="17780">
            <a:solidFill>
              <a:srgbClr val="CFCA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4224528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82128" y="4224528"/>
            <a:ext cx="34683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installed, profile imported, connection tested once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65760" cy="45720"/>
          </a:xfrm>
          <a:prstGeom prst="roundRect">
            <a:avLst>
              <a:gd name="adj" fmla="val 50000"/>
            </a:avLst>
          </a:prstGeom>
          <a:solidFill>
            <a:srgbClr val="9647FF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· GRANTED ON APPROVAL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00"/>
              </a:lnSpc>
              <a:buNone/>
            </a:pPr>
            <a:r>
              <a:rPr lang="en-US" sz="3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</a:t>
            </a:r>
            <a:endParaRPr lang="en-US" sz="34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3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your role</a:t>
            </a:r>
            <a:endParaRPr lang="en-US" sz="34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34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880360"/>
            <a:ext cx="2572436" cy="2606040"/>
          </a:xfrm>
          <a:prstGeom prst="roundRect">
            <a:avLst>
              <a:gd name="adj" fmla="val 4976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319125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1912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" y="3666744"/>
            <a:ext cx="2023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4123944"/>
            <a:ext cx="2023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Accounts, opportunities and activity history.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5396" y="2880360"/>
            <a:ext cx="2572436" cy="2606040"/>
          </a:xfrm>
          <a:prstGeom prst="roundRect">
            <a:avLst>
              <a:gd name="adj" fmla="val 4976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9716" y="3191256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69716" y="31912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INBOX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69716" y="3666744"/>
            <a:ext cx="2023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69716" y="4123944"/>
            <a:ext cx="2023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mailboxes and email assignment inside Gmail.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23864" y="2880360"/>
            <a:ext cx="2572436" cy="2606040"/>
          </a:xfrm>
          <a:prstGeom prst="roundRect">
            <a:avLst>
              <a:gd name="adj" fmla="val 4976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8184" y="319125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8184" y="31912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98184" y="3666744"/>
            <a:ext cx="2023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8184" y="4123944"/>
            <a:ext cx="2023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Repositories, reviews and CI.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331" y="2880360"/>
            <a:ext cx="2572436" cy="2606040"/>
          </a:xfrm>
          <a:prstGeom prst="roundRect">
            <a:avLst>
              <a:gd name="adj" fmla="val 4976"/>
            </a:avLst>
          </a:prstGeom>
          <a:solidFill>
            <a:srgbClr val="9647FF"/>
          </a:solidFill>
          <a:ln/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651" y="3191256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B183FF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651" y="31912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MORE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326651" y="3666744"/>
            <a:ext cx="20237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team tools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26651" y="4123944"/>
            <a:ext cx="2023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further team-related accesses beyond these — they'll be granted to you as well, based on what your role needs.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b="1" dirty="0">
                <a:solidFill>
                  <a:srgbClr val="C4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Bayzat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profile, Knowledge Hub, and Studio.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65760" cy="45720"/>
          </a:xfrm>
          <a:prstGeom prst="roundRect">
            <a:avLst>
              <a:gd name="adj" fmla="val 50000"/>
            </a:avLst>
          </a:prstGeom>
          <a:solidFill>
            <a:srgbClr val="9647FF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PLACES YOU'LL LIVE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all three now</a:t>
            </a:r>
            <a:pPr indent="0" marL="0">
              <a:buNone/>
            </a:pPr>
            <a:r>
              <a:rPr lang="en-US" sz="34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503066" cy="3886200"/>
          </a:xfrm>
          <a:prstGeom prst="roundRect">
            <a:avLst>
              <a:gd name="adj" fmla="val 3654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4231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9647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3108960"/>
            <a:ext cx="2771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Profile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2688" y="3657600"/>
            <a:ext cx="277154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details, documents, emergency contacts, leave balance and payslips. You own the accuracy of this record — HR can't fix what they can't see is wrong.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4314" y="2057400"/>
            <a:ext cx="3503066" cy="3886200"/>
          </a:xfrm>
          <a:prstGeom prst="roundRect">
            <a:avLst>
              <a:gd name="adj" fmla="val 3654"/>
            </a:avLst>
          </a:prstGeom>
          <a:solidFill>
            <a:srgbClr val="F5EDFF"/>
          </a:solidFill>
          <a:ln w="9525">
            <a:solidFill>
              <a:srgbClr val="E0D2FA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0074" y="24231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9647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10074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10074" y="3108960"/>
            <a:ext cx="2771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Hub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10074" y="3657600"/>
            <a:ext cx="277154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internal documentation, organised into spaces. Policies, processes and how-tos live here rather than in someone's inbox.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0074" y="5184648"/>
            <a:ext cx="2771546" cy="10973"/>
          </a:xfrm>
          <a:prstGeom prst="rect">
            <a:avLst/>
          </a:prstGeom>
          <a:solidFill>
            <a:srgbClr val="E0D2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10074" y="5303520"/>
            <a:ext cx="277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B8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today: you can open the IT space and search returns results.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21701" y="2057400"/>
            <a:ext cx="3503066" cy="3886200"/>
          </a:xfrm>
          <a:prstGeom prst="roundRect">
            <a:avLst>
              <a:gd name="adj" fmla="val 3654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87461" y="24231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9647FF"/>
          </a:solidFill>
          <a:ln/>
        </p:spPr>
      </p:sp>
      <p:sp>
        <p:nvSpPr>
          <p:cNvPr id="19" name="Text 17"/>
          <p:cNvSpPr/>
          <p:nvPr/>
        </p:nvSpPr>
        <p:spPr>
          <a:xfrm>
            <a:off x="8487461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87461" y="3108960"/>
            <a:ext cx="2771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Bayzat Studio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487461" y="3657600"/>
            <a:ext cx="277154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workflows, approval flows and automations are built and configured. It's the engine that decides how a request moves, who approves it, and what happens next.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65760" cy="45720"/>
          </a:xfrm>
          <a:prstGeom prst="roundRect">
            <a:avLst>
              <a:gd name="adj" fmla="val 50000"/>
            </a:avLst>
          </a:prstGeom>
          <a:solidFill>
            <a:srgbClr val="9647FF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HUB · SPACES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 are how</a:t>
            </a:r>
            <a:endParaRPr lang="en-US" sz="32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 stays usable</a:t>
            </a:r>
            <a:endParaRPr lang="en-US" sz="32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space is a bounded area of documentation with its own owner and audience. One space per function keeps search honest and keeps policy separate from how-to.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285232" y="960120"/>
            <a:ext cx="6339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space is put together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85232" y="1389888"/>
            <a:ext cx="6339535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22976" y="1673352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9647FF"/>
          </a:solidFill>
          <a:ln/>
        </p:spPr>
      </p:sp>
      <p:sp>
        <p:nvSpPr>
          <p:cNvPr id="9" name="Text 7"/>
          <p:cNvSpPr/>
          <p:nvPr/>
        </p:nvSpPr>
        <p:spPr>
          <a:xfrm>
            <a:off x="5522976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71616" y="1536192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71232" y="1536192"/>
            <a:ext cx="37975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itself. A space is the container — pages are what people actually read, and they can be nested to keep structure.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85232" y="2505456"/>
            <a:ext cx="6339535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22976" y="278892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9647FF"/>
          </a:solidFill>
          <a:ln/>
        </p:spPr>
      </p:sp>
      <p:sp>
        <p:nvSpPr>
          <p:cNvPr id="14" name="Text 12"/>
          <p:cNvSpPr/>
          <p:nvPr/>
        </p:nvSpPr>
        <p:spPr>
          <a:xfrm>
            <a:off x="5522976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71616" y="2651760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71232" y="2651760"/>
            <a:ext cx="37975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space and page carries permissions — who can view it, and who can edit it. Sensitive material stays scoped.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85232" y="3621024"/>
            <a:ext cx="6339535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22976" y="390448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9647FF"/>
          </a:solidFill>
          <a:ln/>
        </p:spPr>
      </p:sp>
      <p:sp>
        <p:nvSpPr>
          <p:cNvPr id="19" name="Text 17"/>
          <p:cNvSpPr/>
          <p:nvPr/>
        </p:nvSpPr>
        <p:spPr>
          <a:xfrm>
            <a:off x="5522976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71616" y="3767328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71232" y="3767328"/>
            <a:ext cx="37975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share option to open a page to a person or team rather than copying it out. One source, one version.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85232" y="4736592"/>
            <a:ext cx="6339535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22976" y="5020056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9647FF"/>
          </a:solidFill>
          <a:ln/>
        </p:spPr>
      </p:sp>
      <p:sp>
        <p:nvSpPr>
          <p:cNvPr id="24" name="Text 22"/>
          <p:cNvSpPr/>
          <p:nvPr/>
        </p:nvSpPr>
        <p:spPr>
          <a:xfrm>
            <a:off x="5522976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71616" y="4882896"/>
            <a:ext cx="1417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IT space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71232" y="4882896"/>
            <a:ext cx="37975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stop — IT policies, acceptable use, and how-to guides for VPN, MFA and device setup.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b="1" dirty="0">
                <a:solidFill>
                  <a:srgbClr val="C4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ask IT and HR for anything.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65760" cy="45720"/>
          </a:xfrm>
          <a:prstGeom prst="roundRect">
            <a:avLst>
              <a:gd name="adj" fmla="val 50000"/>
            </a:avLst>
          </a:prstGeom>
          <a:solidFill>
            <a:srgbClr val="9647FF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→ MY TICKETS → CREATE TICKET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queues, one form</a:t>
            </a:r>
            <a:pPr indent="0" marL="0">
              <a:buNone/>
            </a:pPr>
            <a:r>
              <a:rPr lang="en-US" sz="31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475488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66544"/>
            <a:ext cx="4754880" cy="9144"/>
          </a:xfrm>
          <a:prstGeom prst="rect">
            <a:avLst/>
          </a:prstGeom>
          <a:solidFill>
            <a:srgbClr val="E6E4F0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7190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Tickets  /  Create ticket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21762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ticket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" y="2596896"/>
            <a:ext cx="4352544" cy="1700784"/>
          </a:xfrm>
          <a:prstGeom prst="roundRect">
            <a:avLst>
              <a:gd name="adj" fmla="val 5376"/>
            </a:avLst>
          </a:prstGeom>
          <a:solidFill>
            <a:srgbClr val="F7F8FC"/>
          </a:solidFill>
          <a:ln w="9525">
            <a:solidFill>
              <a:srgbClr val="E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724912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9647F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7066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details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71600" y="2898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ticket details below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32688" y="318211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EFEFF4"/>
          </a:solidFill>
          <a:ln w="9525">
            <a:solidFill>
              <a:srgbClr val="E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22783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69848" y="33924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— pre-filled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2688" y="3730752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964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77647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&gt; Ticket type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69848" y="3941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 item you need assistance with  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01568" y="4398264"/>
            <a:ext cx="804672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2700">
            <a:solidFill>
              <a:srgbClr val="964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439826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4398264"/>
            <a:ext cx="804672" cy="292608"/>
          </a:xfrm>
          <a:prstGeom prst="roundRect">
            <a:avLst>
              <a:gd name="adj" fmla="val 21875"/>
            </a:avLst>
          </a:prstGeom>
          <a:solidFill>
            <a:srgbClr val="9647FF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439826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category first, then the ticket type — the type decides which fields you get and who approves it. Track everything afterwards under My Tickets.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1664208"/>
            <a:ext cx="3063240" cy="315468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15584" y="188366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15584" y="1883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TICKETS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815584" y="2267712"/>
            <a:ext cx="2587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with IT when it's a system, device or access problem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2962656"/>
            <a:ext cx="25511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or tool access requests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faults and replacements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VPN, MFA and account lockouts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joiner and leaver access changes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security-related, however small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87968" y="1664208"/>
            <a:ext cx="2736799" cy="315468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25712" y="188366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25712" y="1883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TICKETS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125712" y="2267712"/>
            <a:ext cx="2261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with HR when it's about you as an employee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62288" y="2962656"/>
            <a:ext cx="22247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Letters, certificates and document requests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and salary queries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and attendance corrections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and insurance questions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detail changes needing approval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5029200"/>
            <a:ext cx="3063240" cy="914400"/>
          </a:xfrm>
          <a:prstGeom prst="roundRect">
            <a:avLst>
              <a:gd name="adj" fmla="val 14000"/>
            </a:avLst>
          </a:prstGeom>
          <a:solidFill>
            <a:srgbClr val="9647FF"/>
          </a:solidFill>
          <a:ln/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33872" y="5148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4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TICKETS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33872" y="5340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hrs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7452360" y="5468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4D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level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887968" y="5029200"/>
            <a:ext cx="2736799" cy="914400"/>
          </a:xfrm>
          <a:prstGeom prst="roundRect">
            <a:avLst>
              <a:gd name="adj" fmla="val 14000"/>
            </a:avLst>
          </a:prstGeom>
          <a:solidFill>
            <a:srgbClr val="F5EDFF"/>
          </a:solidFill>
          <a:ln w="9525">
            <a:solidFill>
              <a:srgbClr val="E0D2FA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44000" y="5148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TICKETS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144000" y="5340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hrs</a:t>
            </a:r>
            <a:endParaRPr lang="en-US" sz="2300" dirty="0"/>
          </a:p>
        </p:txBody>
      </p:sp>
      <p:sp>
        <p:nvSpPr>
          <p:cNvPr id="41" name="Text 39"/>
          <p:cNvSpPr/>
          <p:nvPr/>
        </p:nvSpPr>
        <p:spPr>
          <a:xfrm>
            <a:off x="10488168" y="5468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level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b="1" dirty="0">
                <a:solidFill>
                  <a:srgbClr val="C4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2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Drata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now. Everyone, before we move 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65760" cy="45720"/>
          </a:xfrm>
          <a:prstGeom prst="roundRect">
            <a:avLst>
              <a:gd name="adj" fmla="val 50000"/>
            </a:avLst>
          </a:prstGeom>
          <a:solidFill>
            <a:srgbClr val="9647FF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DRATA · COMPLIANCE, CONTINUOUSLY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914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logs in</a:t>
            </a:r>
            <a:endParaRPr lang="en-US" sz="32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</a:t>
            </a:r>
            <a:endParaRPr lang="en-US" sz="32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23774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Drata continuously checks the controls behind our ISO 27001 certification. It watches devices and accounts daily so we're never reconstructing a year of evidence the week before an audit.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3840480"/>
            <a:ext cx="484632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405079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7780">
            <a:solidFill>
              <a:srgbClr val="CFCA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39319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accepted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07208" y="39319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email found, account active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4663440"/>
            <a:ext cx="484632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487375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7780">
            <a:solidFill>
              <a:srgbClr val="CFCA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475488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enrolled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07208" y="47548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factor registered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5486400"/>
            <a:ext cx="484632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569671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7780">
            <a:solidFill>
              <a:srgbClr val="CFCA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5577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loads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07208" y="55778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see your own task list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70448" y="914400"/>
            <a:ext cx="57543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to you specifically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70448" y="1353312"/>
            <a:ext cx="5754319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99632" y="1609344"/>
            <a:ext cx="50959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runs on evidence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99632" y="2066544"/>
            <a:ext cx="50959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doesn't reward good intentions. An incomplete record or a non-compliant laptop is a finding against the company — traced to an individual.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70448" y="3529584"/>
            <a:ext cx="5754319" cy="2103120"/>
          </a:xfrm>
          <a:prstGeom prst="roundRect">
            <a:avLst>
              <a:gd name="adj" fmla="val 6087"/>
            </a:avLst>
          </a:prstGeom>
          <a:solidFill>
            <a:srgbClr val="9647FF"/>
          </a:solidFill>
          <a:ln/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99632" y="3803904"/>
            <a:ext cx="50959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watches two things about you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99632" y="4261104"/>
            <a:ext cx="50959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MFA, and device compliance. That's the entire personal footprint — which is why keeping both green takes almost no effort once it's set up.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b="1" dirty="0">
                <a:solidFill>
                  <a:srgbClr val="C4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2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automation stack we actually run 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65760" cy="45720"/>
          </a:xfrm>
          <a:prstGeom prst="roundRect">
            <a:avLst>
              <a:gd name="adj" fmla="val 50000"/>
            </a:avLst>
          </a:prstGeom>
          <a:solidFill>
            <a:srgbClr val="9647FF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USE, AND WHAT FOR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orchestrator,</a:t>
            </a:r>
            <a:endParaRPr lang="en-US" sz="32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model families</a:t>
            </a:r>
            <a:endParaRPr lang="en-US" sz="32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3503066" cy="3127248"/>
          </a:xfrm>
          <a:prstGeom prst="roundRect">
            <a:avLst>
              <a:gd name="adj" fmla="val 4094"/>
            </a:avLst>
          </a:prstGeom>
          <a:solidFill>
            <a:srgbClr val="9647FF"/>
          </a:solidFill>
          <a:ln/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68833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B183FF"/>
          </a:solidFill>
          <a:ln/>
        </p:spPr>
      </p:sp>
      <p:pic>
        <p:nvPicPr>
          <p:cNvPr id="7" name="Image 0" descr="ico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16352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96112" y="3401568"/>
            <a:ext cx="1321308" cy="274320"/>
          </a:xfrm>
          <a:prstGeom prst="roundRect">
            <a:avLst>
              <a:gd name="adj" fmla="val 50000"/>
            </a:avLst>
          </a:prstGeom>
          <a:solidFill>
            <a:srgbClr val="B183FF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3401568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96112" y="3785616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96112" y="4352544"/>
            <a:ext cx="28446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our workflows live. Moves data between systems, calls a model mid-flow, writes the result back. Most of what looks like "AI" here is really an n8n workflow with a model step inside it.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4314" y="2395728"/>
            <a:ext cx="3503066" cy="3127248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73498" y="268833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9647FF"/>
          </a:solidFill>
          <a:ln/>
        </p:spPr>
      </p:sp>
      <p:pic>
        <p:nvPicPr>
          <p:cNvPr id="14" name="Image 1" descr="icon_sp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514" y="2816352"/>
            <a:ext cx="310896" cy="3108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73498" y="3401568"/>
            <a:ext cx="1010412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16" name="Text 12"/>
          <p:cNvSpPr/>
          <p:nvPr/>
        </p:nvSpPr>
        <p:spPr>
          <a:xfrm>
            <a:off x="4673498" y="3401568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673498" y="3785616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4673498" y="4352544"/>
            <a:ext cx="28446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models. Long documents, call transcripts, drafting, code and structured deliverables. The default when there's a lot of context attached to the task.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21701" y="2395728"/>
            <a:ext cx="3503066" cy="3127248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50885" y="268833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9647FF"/>
          </a:solidFill>
          <a:ln/>
        </p:spPr>
      </p:sp>
      <p:pic>
        <p:nvPicPr>
          <p:cNvPr id="21" name="Image 2" descr="icon_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2816352"/>
            <a:ext cx="310896" cy="31089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450885" y="34015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5EDFF"/>
          </a:solidFill>
          <a:ln/>
        </p:spPr>
      </p:sp>
      <p:sp>
        <p:nvSpPr>
          <p:cNvPr id="23" name="Text 18"/>
          <p:cNvSpPr/>
          <p:nvPr/>
        </p:nvSpPr>
        <p:spPr>
          <a:xfrm>
            <a:off x="8450885" y="3401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8450885" y="3785616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8450885" y="4352544"/>
            <a:ext cx="28446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models. General assistance and a useful second opinion. Same account rules and the same guardrails as everything else on this slide.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66928" y="5705856"/>
            <a:ext cx="11057839" cy="749808"/>
          </a:xfrm>
          <a:prstGeom prst="roundRect">
            <a:avLst>
              <a:gd name="adj" fmla="val 17073"/>
            </a:avLst>
          </a:prstGeom>
          <a:solidFill>
            <a:srgbClr val="F5EDFF"/>
          </a:solidFill>
          <a:ln w="9525">
            <a:solidFill>
              <a:srgbClr val="E0D2FA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896112" y="5705856"/>
            <a:ext cx="1039947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under your </a:t>
            </a:r>
            <a:pPr indent="0" marL="0">
              <a:buNone/>
            </a:pPr>
            <a:r>
              <a:rPr lang="en-US" sz="1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workspace account</a:t>
            </a:r>
            <a:pPr indent="0" marL="0">
              <a:buNone/>
            </a:pPr>
            <a:r>
              <a:rPr lang="en-US" sz="12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never a personal or free-tier login.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responsibly</a:t>
            </a:r>
            <a:pPr indent="0" marL="0">
              <a:buNone/>
            </a:pPr>
            <a:r>
              <a:rPr lang="en-US" sz="34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version: the AI does the first draft, you own the result.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5382616" cy="4041648"/>
          </a:xfrm>
          <a:prstGeom prst="roundRect">
            <a:avLst>
              <a:gd name="adj" fmla="val 316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87168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F1FBF7"/>
          </a:solidFill>
          <a:ln w="13970">
            <a:solidFill>
              <a:srgbClr val="00B8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871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0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32688" y="3163824"/>
            <a:ext cx="118872" cy="118872"/>
          </a:xfrm>
          <a:prstGeom prst="ellipse">
            <a:avLst/>
          </a:prstGeom>
          <a:solidFill>
            <a:srgbClr val="00B87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72384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company accounts, never personal ones, for work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32688" y="3785616"/>
            <a:ext cx="118872" cy="118872"/>
          </a:xfrm>
          <a:prstGeom prst="ellipse">
            <a:avLst/>
          </a:prstGeom>
          <a:solidFill>
            <a:srgbClr val="00B87C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94176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output as a draft — verify facts, figures and names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32688" y="4407408"/>
            <a:ext cx="118872" cy="118872"/>
          </a:xfrm>
          <a:prstGeom prst="ellipse">
            <a:avLst/>
          </a:prstGeom>
          <a:solidFill>
            <a:srgbClr val="00B87C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315968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human approver on anything a customer will see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2688" y="5029200"/>
            <a:ext cx="118872" cy="118872"/>
          </a:xfrm>
          <a:prstGeom prst="ellipse">
            <a:avLst/>
          </a:prstGeom>
          <a:solidFill>
            <a:srgbClr val="00B87C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937760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 or anonymise personal data wherever you can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2688" y="5650992"/>
            <a:ext cx="118872" cy="118872"/>
          </a:xfrm>
          <a:prstGeom prst="ellipse">
            <a:avLst/>
          </a:prstGeom>
          <a:solidFill>
            <a:srgbClr val="00B87C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559552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automations in n8n so a colleague can maintain them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2152" y="2176272"/>
            <a:ext cx="5382616" cy="4041648"/>
          </a:xfrm>
          <a:prstGeom prst="roundRect">
            <a:avLst>
              <a:gd name="adj" fmla="val 3167"/>
            </a:avLst>
          </a:prstGeom>
          <a:solidFill>
            <a:srgbClr val="FFFFFF"/>
          </a:solidFill>
          <a:ln w="9525">
            <a:solidFill>
              <a:srgbClr val="E6E4F0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71336" y="2487168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FEF2F4"/>
          </a:solidFill>
          <a:ln w="13970">
            <a:solidFill>
              <a:srgbClr val="E045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1336" y="248716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E04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07912" y="3163824"/>
            <a:ext cx="118872" cy="118872"/>
          </a:xfrm>
          <a:prstGeom prst="ellipse">
            <a:avLst/>
          </a:prstGeom>
          <a:solidFill>
            <a:srgbClr val="E0455F"/>
          </a:solidFill>
          <a:ln/>
        </p:spPr>
      </p:sp>
      <p:sp>
        <p:nvSpPr>
          <p:cNvPr id="22" name="Text 20"/>
          <p:cNvSpPr/>
          <p:nvPr/>
        </p:nvSpPr>
        <p:spPr>
          <a:xfrm>
            <a:off x="6863944" y="3072384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customer data, salaries or medical and insurance details into a personal AI account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07912" y="3785616"/>
            <a:ext cx="118872" cy="118872"/>
          </a:xfrm>
          <a:prstGeom prst="ellipse">
            <a:avLst/>
          </a:prstGeom>
          <a:solidFill>
            <a:srgbClr val="E0455F"/>
          </a:solidFill>
          <a:ln/>
        </p:spPr>
      </p:sp>
      <p:sp>
        <p:nvSpPr>
          <p:cNvPr id="24" name="Text 22"/>
          <p:cNvSpPr/>
          <p:nvPr/>
        </p:nvSpPr>
        <p:spPr>
          <a:xfrm>
            <a:off x="6863944" y="3694176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AI-written text reach a customer without a human reading 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07912" y="4407408"/>
            <a:ext cx="118872" cy="118872"/>
          </a:xfrm>
          <a:prstGeom prst="ellipse">
            <a:avLst/>
          </a:prstGeom>
          <a:solidFill>
            <a:srgbClr val="E0455F"/>
          </a:solidFill>
          <a:ln/>
        </p:spPr>
      </p:sp>
      <p:sp>
        <p:nvSpPr>
          <p:cNvPr id="26" name="Text 24"/>
          <p:cNvSpPr/>
          <p:nvPr/>
        </p:nvSpPr>
        <p:spPr>
          <a:xfrm>
            <a:off x="6863944" y="4315968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automations on personal accounts that only you can access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07912" y="5029200"/>
            <a:ext cx="118872" cy="118872"/>
          </a:xfrm>
          <a:prstGeom prst="ellipse">
            <a:avLst/>
          </a:prstGeom>
          <a:solidFill>
            <a:srgbClr val="E0455F"/>
          </a:solidFill>
          <a:ln/>
        </p:spPr>
      </p:sp>
      <p:sp>
        <p:nvSpPr>
          <p:cNvPr id="28" name="Text 26"/>
          <p:cNvSpPr/>
          <p:nvPr/>
        </p:nvSpPr>
        <p:spPr>
          <a:xfrm>
            <a:off x="6863944" y="4937760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for a new AI tool without IT reviewing the data terms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07912" y="5650992"/>
            <a:ext cx="118872" cy="118872"/>
          </a:xfrm>
          <a:prstGeom prst="ellipse">
            <a:avLst/>
          </a:prstGeom>
          <a:solidFill>
            <a:srgbClr val="E0455F"/>
          </a:solidFill>
          <a:ln/>
        </p:spPr>
      </p:sp>
      <p:sp>
        <p:nvSpPr>
          <p:cNvPr id="30" name="Text 28"/>
          <p:cNvSpPr/>
          <p:nvPr/>
        </p:nvSpPr>
        <p:spPr>
          <a:xfrm>
            <a:off x="6863944" y="5559552"/>
            <a:ext cx="443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a citation, statistic or quote is real — check it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b="1" dirty="0">
                <a:solidFill>
                  <a:srgbClr val="C4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2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Assets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been given, and what condition it's in.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65760" cy="45720"/>
          </a:xfrm>
          <a:prstGeom prst="roundRect">
            <a:avLst>
              <a:gd name="adj" fmla="val 50000"/>
            </a:avLst>
          </a:prstGeom>
          <a:solidFill>
            <a:srgbClr val="9647FF"/>
          </a:solidFill>
          <a:ln/>
        </p:spPr>
      </p:sp>
      <p:sp>
        <p:nvSpPr>
          <p:cNvPr id="3" name="Text 1"/>
          <p:cNvSpPr/>
          <p:nvPr/>
        </p:nvSpPr>
        <p:spPr>
          <a:xfrm>
            <a:off x="1042416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ALLOCATED ASSET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device is allocated</a:t>
            </a:r>
            <a:endParaRPr lang="en-US" sz="32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person</a:t>
            </a:r>
            <a:endParaRPr lang="en-US" sz="32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6510528" cy="3703320"/>
          </a:xfrm>
          <a:prstGeom prst="roundRect">
            <a:avLst>
              <a:gd name="adj" fmla="val 3457"/>
            </a:avLst>
          </a:prstGeom>
          <a:solidFill>
            <a:srgbClr val="F5EDFF"/>
          </a:solidFill>
          <a:ln w="9525">
            <a:solidFill>
              <a:srgbClr val="E0D2FA"/>
            </a:solidFill>
            <a:prstDash val="solid"/>
          </a:ln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70662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7066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96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 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32688" y="3163824"/>
            <a:ext cx="5779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health check with us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9264" y="3694176"/>
            <a:ext cx="5705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number matches your handover record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encryption 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lock at 5 minutes or less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and browser fully updated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agent running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Drata reporting the device as compliant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32688" y="5431536"/>
            <a:ext cx="5779008" cy="10973"/>
          </a:xfrm>
          <a:prstGeom prst="rect">
            <a:avLst/>
          </a:prstGeom>
          <a:solidFill>
            <a:srgbClr val="E0D2FA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5559552"/>
            <a:ext cx="5779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B8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failing here gets fixed now, or raised as an IT ticket before you leave.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51776" y="2395728"/>
            <a:ext cx="4272991" cy="3703320"/>
          </a:xfrm>
          <a:prstGeom prst="roundRect">
            <a:avLst>
              <a:gd name="adj" fmla="val 3457"/>
            </a:avLst>
          </a:prstGeom>
          <a:solidFill>
            <a:srgbClr val="9647FF"/>
          </a:solidFill>
          <a:ln/>
          <a:effectLst>
            <a:outerShdw sx="100000" sy="100000" kx="0" ky="0" algn="bl" rotWithShape="0" blurRad="177800" dist="38100" dir="5400000">
              <a:srgbClr val="14141F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17536" y="270662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B183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17536" y="2706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RECEIVED YET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717536" y="3163824"/>
            <a:ext cx="35414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go through delivery now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717536" y="4041648"/>
            <a:ext cx="354147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device hasn't reached you, tell us in this session. We'll check where the request stands and give you a delivery timeline, plus interim access so you're not blocked.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66928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queries?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and HRIS Session</dc:title>
  <dc:subject>PptxGenJS Presentation</dc:subject>
  <dc:creator>PptxGenJS</dc:creator>
  <cp:lastModifiedBy>PptxGenJS</cp:lastModifiedBy>
  <cp:revision>1</cp:revision>
  <dcterms:created xsi:type="dcterms:W3CDTF">2026-07-29T18:51:01Z</dcterms:created>
  <dcterms:modified xsi:type="dcterms:W3CDTF">2026-07-29T18:51:01Z</dcterms:modified>
</cp:coreProperties>
</file>